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2" r:id="rId7"/>
    <p:sldId id="272" r:id="rId8"/>
    <p:sldId id="273" r:id="rId9"/>
    <p:sldId id="283" r:id="rId10"/>
    <p:sldId id="284" r:id="rId11"/>
    <p:sldId id="285" r:id="rId12"/>
    <p:sldId id="264" r:id="rId13"/>
    <p:sldId id="279" r:id="rId15"/>
    <p:sldId id="286" r:id="rId16"/>
    <p:sldId id="260" r:id="rId17"/>
    <p:sldId id="287" r:id="rId18"/>
    <p:sldId id="27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g yu" initials="s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40C1E-3F43-42A9-9C33-A51C6455E8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360B3-3ABE-4706-8B99-17847DA86C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0E62-DD21-4AF0-8A6C-8D4DB6A77BA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551B-00BE-4127-9E47-0E8018E39C5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EDDD-8548-45E1-905C-25B6555ED85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810AE-02FF-401A-BF3D-91BE25415BA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1F91D-F53E-4770-9BED-B5DBD27CCAB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EA9B-C5EF-44A9-8CC9-1FACCEC4F5EC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AF47-90C4-4CFD-920D-A923BC7DE12D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F04-30D6-4A3B-A696-8551070B4EC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120D-8EBE-49B5-9A7A-3B2C0F2B68D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6C24-9D1D-407F-9F64-95C45AC5A05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4D68-BC02-4B70-B6B6-839653271A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A97C4-2FCC-424C-B69C-9ACD862F9BD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855653" y="5404822"/>
            <a:ext cx="11099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方子玄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2018/9/19</a:t>
            </a:r>
            <a:endParaRPr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8045" y="1684020"/>
            <a:ext cx="7391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868045" y="664210"/>
            <a:ext cx="10498455" cy="29070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  <a:sym typeface="+mn-ea"/>
              </a:rPr>
              <a:t>Community Preserving Network Embedding</a:t>
            </a:r>
            <a:br>
              <a:rPr lang="en-US" altLang="zh-CN"/>
            </a:b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525" y="3131820"/>
            <a:ext cx="815213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97669" y="782930"/>
            <a:ext cx="3796665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9133" y="1955800"/>
            <a:ext cx="10227734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3200" b="1" dirty="0" smtClean="0"/>
              <a:t>Network embedding</a:t>
            </a:r>
            <a:r>
              <a:rPr lang="en-US" altLang="zh-CN" sz="3200" dirty="0" smtClean="0"/>
              <a:t>, aiming to learn the low-dimensional representations of nodes in networks, is of paramount importance in many real applications. </a:t>
            </a:r>
            <a:endParaRPr lang="en-US" altLang="zh-CN" sz="3200" b="1" dirty="0" smtClean="0"/>
          </a:p>
          <a:p>
            <a:pPr marL="457200" indent="-457200">
              <a:buAutoNum type="arabicPeriod"/>
            </a:pPr>
            <a:endParaRPr lang="en-US" altLang="zh-CN" sz="3200" b="1" dirty="0" smtClean="0"/>
          </a:p>
          <a:p>
            <a:pPr lvl="0"/>
            <a:r>
              <a:rPr lang="en-US" altLang="zh-CN" sz="3200" b="1" dirty="0" smtClean="0"/>
              <a:t>2. One basic requirement</a:t>
            </a:r>
            <a:r>
              <a:rPr lang="en-US" altLang="zh-CN" sz="3200" dirty="0" smtClean="0"/>
              <a:t> of network embedding is to     preserve the structure and inherent properties of the networks.</a:t>
            </a:r>
            <a:endParaRPr lang="en-US" altLang="zh-CN" sz="3200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3411" y="431564"/>
            <a:ext cx="3345180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Motivation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4465" y="1721924"/>
            <a:ext cx="97790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While previous network embedding methods primarily preserve the </a:t>
            </a:r>
            <a:r>
              <a:rPr lang="en-US" altLang="zh-CN" sz="2400" b="1" dirty="0" smtClean="0"/>
              <a:t>microscopic structure</a:t>
            </a:r>
            <a:r>
              <a:rPr lang="en-US" altLang="zh-CN" sz="2400" dirty="0" smtClean="0"/>
              <a:t>, such as the first- and second-order proximities of nodes.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The mesoscopic </a:t>
            </a:r>
            <a:r>
              <a:rPr lang="en-US" altLang="zh-CN" sz="2400" b="1" dirty="0" smtClean="0"/>
              <a:t>community structure</a:t>
            </a:r>
            <a:r>
              <a:rPr lang="en-US" altLang="zh-CN" sz="2400" dirty="0" smtClean="0"/>
              <a:t>, which is one of the most prominent feature of networks, is largely ignored.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Therefore, this paper propose a novel </a:t>
            </a:r>
            <a:r>
              <a:rPr lang="en-US" altLang="zh-CN" sz="2400" b="1" dirty="0" smtClean="0"/>
              <a:t>Modularized Nonnegative Matrix Factorization (M-NMF) </a:t>
            </a:r>
            <a:r>
              <a:rPr lang="en-US" altLang="zh-CN" sz="2400" dirty="0" smtClean="0"/>
              <a:t>model to incorporate the community structure into network embedding.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15157" y="468394"/>
            <a:ext cx="3360420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Advantage</a:t>
            </a:r>
            <a:endParaRPr lang="en-US" altLang="zh-CN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19225" y="1611434"/>
            <a:ext cx="97790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The representations of nodes within a community should be</a:t>
            </a:r>
            <a:r>
              <a:rPr lang="en-US" altLang="zh-CN" sz="2400" b="1" dirty="0" smtClean="0"/>
              <a:t> more similar</a:t>
            </a:r>
            <a:r>
              <a:rPr lang="en-US" altLang="zh-CN" sz="2400" dirty="0" smtClean="0"/>
              <a:t> than those belonging to different communities.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for two nodes within a community, even if they only have weak relationship in microscopic structure due to the </a:t>
            </a:r>
            <a:r>
              <a:rPr lang="en-US" altLang="zh-CN" sz="2400" b="1" dirty="0" smtClean="0"/>
              <a:t>data sparsity issue</a:t>
            </a:r>
            <a:r>
              <a:rPr lang="en-US" altLang="zh-CN" sz="2400" dirty="0" smtClean="0"/>
              <a:t>, their similarities will also be strengthened by the </a:t>
            </a:r>
            <a:r>
              <a:rPr lang="en-US" altLang="zh-CN" sz="2400" b="1" dirty="0" smtClean="0"/>
              <a:t>community structure constraint. </a:t>
            </a:r>
            <a:endParaRPr lang="en-US" altLang="zh-CN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Thus, the incorporation of community structure in network embedding can provide effective and rich information to solve </a:t>
            </a:r>
            <a:r>
              <a:rPr lang="en-US" altLang="zh-CN" sz="2400" b="1" dirty="0" smtClean="0"/>
              <a:t>data sparsity issues in microscopic structures </a:t>
            </a:r>
            <a:r>
              <a:rPr lang="en-US" altLang="zh-CN" sz="2400" dirty="0" smtClean="0"/>
              <a:t>and also make the learned node representations more </a:t>
            </a:r>
            <a:r>
              <a:rPr lang="en-US" altLang="zh-CN" sz="2400" b="1" dirty="0" smtClean="0"/>
              <a:t>discriminative</a:t>
            </a:r>
            <a:r>
              <a:rPr lang="en-US" altLang="zh-CN" sz="2400" dirty="0" smtClean="0"/>
              <a:t>. 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71005" y="679001"/>
            <a:ext cx="9272905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Modeling community structure</a:t>
            </a:r>
            <a:endParaRPr lang="en-US" altLang="zh-CN" sz="5400" b="0" cap="none" spc="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7800" y="1601047"/>
            <a:ext cx="9719733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The modularity maximization based community detection method, one of the most widely used algorithms (Newman 2006a), is adopted to model the community structure.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Specifically, given a network A with two communities, the modularity is defined as follows (Newman 2006b):</a:t>
            </a:r>
            <a:endParaRPr lang="en-US" altLang="zh-C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endParaRPr lang="zh-CN" altLang="en-US" sz="20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5320" y="4594860"/>
            <a:ext cx="368554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86840" y="1383242"/>
            <a:ext cx="9719733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extend to k &gt; 2 communities</a:t>
            </a:r>
            <a:r>
              <a:rPr sz="3600" b="1" dirty="0"/>
              <a:t>  </a:t>
            </a:r>
            <a:r>
              <a:rPr lang="en-US" altLang="zh-CN" sz="3600" b="1" dirty="0" smtClean="0"/>
              <a:t>:</a:t>
            </a:r>
            <a:endParaRPr lang="en-US" altLang="zh-CN" sz="3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generalize the community membership indicator as                 with one column for each community. 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 In each row of </a:t>
            </a:r>
            <a:r>
              <a:rPr lang="en-US" altLang="zh-CN" sz="2400" b="1" dirty="0" smtClean="0"/>
              <a:t>H</a:t>
            </a:r>
            <a:r>
              <a:rPr lang="en-US" altLang="zh-CN" sz="2400" dirty="0" smtClean="0"/>
              <a:t>, only one element is 1 and all the others are 0.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After suppressing the constant which has no effect on the maximum of the modularity, we have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endParaRPr lang="zh-CN" altLang="en-US" sz="20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8680" y="2017395"/>
            <a:ext cx="1343025" cy="323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630" y="4728845"/>
            <a:ext cx="4904740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58903" y="461196"/>
            <a:ext cx="9474200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Modeling microscopic structure</a:t>
            </a:r>
            <a:endParaRPr lang="en-US" sz="5400" b="0" cap="none" spc="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7800" y="1601047"/>
            <a:ext cx="9719733" cy="495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600" b="1" dirty="0"/>
              <a:t>First-order proximity                             </a:t>
            </a:r>
            <a:r>
              <a:rPr lang="en-US" altLang="zh-CN" sz="3600" b="1" dirty="0" smtClean="0"/>
              <a:t>:</a:t>
            </a:r>
            <a:endParaRPr lang="en-US" altLang="zh-CN" sz="3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The first-order proximity is the observed </a:t>
            </a:r>
            <a:r>
              <a:rPr lang="en-US" altLang="zh-CN" sz="2400" b="1" dirty="0" smtClean="0"/>
              <a:t>pairwise proximity</a:t>
            </a:r>
            <a:r>
              <a:rPr lang="en-US" altLang="zh-CN" sz="2400" dirty="0" smtClean="0"/>
              <a:t> between two nodes, i.e., if              there exists positive first-order proximity between nodes i and j, otherwise, the first-order proximity is 0.  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Basically, because the first proximity is the the </a:t>
            </a:r>
            <a:r>
              <a:rPr lang="en-US" altLang="zh-CN" sz="2400" b="1" dirty="0" smtClean="0"/>
              <a:t>most direct expression </a:t>
            </a:r>
            <a:r>
              <a:rPr lang="en-US" altLang="zh-CN" sz="2400" dirty="0" smtClean="0"/>
              <a:t>of network, it is necessary to preserve the first-order proximity.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 </a:t>
            </a:r>
            <a:r>
              <a:rPr lang="en-US" altLang="zh-CN" sz="2400" b="1" dirty="0" smtClean="0"/>
              <a:t>A complementary solution</a:t>
            </a:r>
            <a:r>
              <a:rPr lang="en-US" altLang="zh-CN" sz="2400" dirty="0" smtClean="0"/>
              <a:t> is to consider their</a:t>
            </a:r>
            <a:r>
              <a:rPr lang="en-US" altLang="zh-CN" sz="2400" b="1" dirty="0" smtClean="0"/>
              <a:t> common neighbors.</a:t>
            </a:r>
            <a:r>
              <a:rPr lang="en-US" altLang="zh-CN" sz="2400" dirty="0" smtClean="0"/>
              <a:t> Intuitively, if two nodes share many neighbors, even if they do not have a direct link, they are still similar.</a:t>
            </a:r>
            <a:endParaRPr lang="en-US" altLang="zh-C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endParaRPr lang="zh-CN" altLang="en-US" sz="20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605" y="1600835"/>
            <a:ext cx="2626995" cy="599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055" y="1509395"/>
            <a:ext cx="978535" cy="5816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145" y="2531745"/>
            <a:ext cx="9810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86840" y="1383242"/>
            <a:ext cx="9719733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Second-order Proximity</a:t>
            </a:r>
            <a:r>
              <a:rPr sz="3600" b="1" dirty="0"/>
              <a:t>                          </a:t>
            </a:r>
            <a:r>
              <a:rPr lang="en-US" altLang="zh-CN" sz="3600" b="1" dirty="0" smtClean="0"/>
              <a:t>:</a:t>
            </a:r>
            <a:endParaRPr lang="en-US" altLang="zh-CN" sz="3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Let                             be the first-order proximity between node i and other nodes. 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Here we consider the cosine similarity as the second-order proximity, i.e.,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endParaRPr lang="zh-CN" altLang="en-US" sz="20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0" y="1379220"/>
            <a:ext cx="2352040" cy="6381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850" y="1466850"/>
            <a:ext cx="871855" cy="4622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615" y="1929130"/>
            <a:ext cx="2200275" cy="419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942715"/>
            <a:ext cx="3984625" cy="938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17320" y="1383242"/>
            <a:ext cx="9719733" cy="3353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 final similarity matrix</a:t>
            </a:r>
            <a:r>
              <a:rPr lang="en-US" altLang="zh-CN" sz="3600" b="1" dirty="0" smtClean="0"/>
              <a:t>:</a:t>
            </a:r>
            <a:endParaRPr lang="en-US" altLang="zh-CN" sz="3600" b="1" dirty="0" smtClean="0"/>
          </a:p>
          <a:p>
            <a:endParaRPr lang="en-US" altLang="zh-CN" sz="3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objective function: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endParaRPr lang="zh-CN" altLang="en-US" sz="20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760" y="2520315"/>
            <a:ext cx="818515" cy="343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75" y="2454275"/>
            <a:ext cx="1946910" cy="476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275" y="3804285"/>
            <a:ext cx="804545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5936" y="384996"/>
            <a:ext cx="11663045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unified network embedding model</a:t>
            </a:r>
            <a:endParaRPr lang="en-US" sz="5400" b="0" cap="none" spc="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7800" y="1321647"/>
            <a:ext cx="9719733" cy="4215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To this end, we introduce an auxiliary nonnegative matrix                 , named community representation matrix, where the r-th row (Cr) is the representation of community r. 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If the representation of a node is highly similar to that of a community, the node may have a high propensity to be in this community. 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overall objective function:</a:t>
            </a:r>
            <a:endParaRPr lang="en-US" altLang="zh-C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 smtClean="0"/>
          </a:p>
          <a:p>
            <a:endParaRPr lang="zh-CN" altLang="en-US" sz="20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785" y="1926590"/>
            <a:ext cx="1362710" cy="3498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295" y="4909820"/>
            <a:ext cx="7132955" cy="12452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353948" y="293556"/>
            <a:ext cx="7482840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p>
            <a:pPr algn="ctr"/>
            <a:r>
              <a:rPr lang="en-US" altLang="zh-CN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Experimental evaluations</a:t>
            </a:r>
            <a:endParaRPr lang="en-US" altLang="zh-CN" sz="5400" b="0" cap="none" spc="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9225" y="1459034"/>
            <a:ext cx="977900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We compared M-NMF against the following five network embedding algorithms: </a:t>
            </a:r>
            <a:r>
              <a:rPr lang="en-US" altLang="zh-CN" sz="2400" b="1" dirty="0" smtClean="0"/>
              <a:t>DeepWalk</a:t>
            </a:r>
            <a:r>
              <a:rPr lang="en-US" altLang="zh-CN" sz="2400" dirty="0" smtClean="0"/>
              <a:t> (Perozzi, Al-Rfou, and Skiena 2014), </a:t>
            </a:r>
            <a:r>
              <a:rPr lang="en-US" altLang="zh-CN" sz="2400" b="1" dirty="0" smtClean="0"/>
              <a:t>LINE</a:t>
            </a:r>
            <a:r>
              <a:rPr lang="en-US" altLang="zh-CN" sz="2400" dirty="0" smtClean="0"/>
              <a:t> (Tang et al. 2015),</a:t>
            </a:r>
            <a:r>
              <a:rPr lang="en-US" altLang="zh-CN" sz="2400" b="1" dirty="0" smtClean="0"/>
              <a:t> GraRep</a:t>
            </a:r>
            <a:r>
              <a:rPr lang="en-US" altLang="zh-CN" sz="2400" dirty="0" smtClean="0"/>
              <a:t> (Cao, Lu, and Xu 2015), </a:t>
            </a:r>
            <a:r>
              <a:rPr lang="en-US" altLang="zh-CN" sz="2400" b="1" dirty="0" smtClean="0"/>
              <a:t>Node2Vec </a:t>
            </a:r>
            <a:r>
              <a:rPr lang="en-US" altLang="zh-CN" sz="2400" dirty="0" smtClean="0"/>
              <a:t>(Grover and Leskovec 2016) and </a:t>
            </a:r>
            <a:r>
              <a:rPr lang="en-US" altLang="zh-CN" sz="2400" b="1" dirty="0" smtClean="0"/>
              <a:t>M-NMF0</a:t>
            </a:r>
            <a:r>
              <a:rPr lang="en-US" altLang="zh-CN" sz="2400" dirty="0" smtClean="0"/>
              <a:t>.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LINE1 to represent the LINE preserving the first-order proximity and LINE2 to represent the LINE preserving the second-order proximity.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M-NMF0 is our proposed M-NMF model which only preserves the first- and second-order proximities. M-NMF0 is used to verify the effectiveness of incorporating community structure. </a:t>
            </a:r>
            <a:endParaRPr lang="en-US" altLang="zh-CN" sz="24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" y="2347595"/>
            <a:ext cx="10255250" cy="3779520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/>
        </p:nvSpPr>
        <p:spPr>
          <a:xfrm>
            <a:off x="966470" y="400050"/>
            <a:ext cx="10782300" cy="1810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Comic Sans MS" panose="030F0702030302020204" charset="0"/>
              </a:rPr>
              <a:t>M-NMF achieves the best results on seven of nine networks (except Polblogs and Mich).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Comic Sans MS" panose="030F0702030302020204" charset="0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Comic Sans MS" panose="030F0702030302020204" charset="0"/>
              </a:rPr>
              <a:t>M-NMF consistently shows better performance than M-NMF0 on all the tested networks, further suggesting the importance of incorporating the community structure to learn the representations of nodes. </a:t>
            </a:r>
            <a:endParaRPr lang="en-US" altLang="zh-CN" sz="2000"/>
          </a:p>
          <a:p>
            <a:pPr>
              <a:lnSpc>
                <a:spcPct val="150000"/>
              </a:lnSpc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811530" y="4866005"/>
            <a:ext cx="10782300" cy="1002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Comic Sans MS" panose="030F0702030302020204" charset="0"/>
              </a:rPr>
              <a:t>As we can see, M-NMF outperforms the other methods on eight of nine networks (except Texas), which demonstrates the effectiveness of M-NMF on classiﬁcation task. 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Comic Sans MS" panose="030F0702030302020204" charset="0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185" y="1050925"/>
            <a:ext cx="9444990" cy="3464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0" y="63500"/>
            <a:ext cx="6626860" cy="6731635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/>
        </p:nvSpPr>
        <p:spPr>
          <a:xfrm>
            <a:off x="748030" y="1671320"/>
            <a:ext cx="4655820" cy="4338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Comic Sans MS" panose="030F0702030302020204" charset="0"/>
              </a:rPr>
              <a:t>As seen from Figure 1, the accuracies do not change too much and the performances are relatively stable. 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Comic Sans MS" panose="030F0702030302020204" charset="0"/>
            </a:endParaRP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Comic Sans MS" panose="030F0702030302020204" charset="0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Comic Sans MS" panose="030F0702030302020204" charset="0"/>
              </a:rPr>
              <a:t> we noticed that MNMF on these two networks still shows competitive performances even when the accuracies are relatively low. 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Comic Sans MS" panose="030F0702030302020204" charset="0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7225665" y="2600960"/>
            <a:ext cx="4533900" cy="2160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Comic Sans MS" panose="030F0702030302020204" charset="0"/>
              </a:rPr>
              <a:t>As we can see, the curve of accuracies are relatively stable, indicating its robustness to the number of communities k.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Comic Sans MS" panose="030F070203030202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" y="486410"/>
            <a:ext cx="6253480" cy="60979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FC46-2647-46A2-8AC3-A285DF371778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531312" y="2362602"/>
            <a:ext cx="27572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b="1" i="1" dirty="0" smtClean="0"/>
              <a:t>Thanks!</a:t>
            </a:r>
            <a:endParaRPr lang="en-GB" altLang="zh-CN" sz="5400" dirty="0"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4547</Words>
  <Application>WPS 演示</Application>
  <PresentationFormat>宽屏</PresentationFormat>
  <Paragraphs>137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华文中宋</vt:lpstr>
      <vt:lpstr>微软雅黑</vt:lpstr>
      <vt:lpstr>Comic Sans MS</vt:lpstr>
      <vt:lpstr>等线</vt:lpstr>
      <vt:lpstr>等线 Light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song yu</dc:creator>
  <cp:lastModifiedBy>梓1399098095</cp:lastModifiedBy>
  <cp:revision>14</cp:revision>
  <dcterms:created xsi:type="dcterms:W3CDTF">2018-06-23T16:50:00Z</dcterms:created>
  <dcterms:modified xsi:type="dcterms:W3CDTF">2018-09-19T12:32:19Z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2052-10.1.0.7469</vt:lpwstr>
  </property>
</Properties>
</file>